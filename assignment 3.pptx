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8A404E-AF5A-4673-816F-A2524FED7BF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142F8C-F9D8-493C-937B-ABD4C402D2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9DDAA9-5752-436C-8268-FCC36EE282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121933-0B71-4F5B-86B4-381696625B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0F3055-3977-48E8-A956-8706A50078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DC7F14-8374-4DE6-B903-C7B2CD3E5E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F27EBA-5CEE-457B-9A78-0B74835598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9D94CC-1827-484F-B46B-1B73926AA0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F50B40-9A0A-4BEA-8820-52B894A8EA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2B1A72-524F-434F-B979-E656E5D012B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5C271B-FB53-496D-9B34-5190916FC8C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850B0C-4F16-45B5-800D-3C247E27A26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B88C368-9C8E-4649-AF8C-C29F5710276D}" type="slidenum"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Box 2"/>
          <p:cNvSpPr/>
          <p:nvPr/>
        </p:nvSpPr>
        <p:spPr>
          <a:xfrm>
            <a:off x="457200" y="1143000"/>
            <a:ext cx="91785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200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ROS nodes, topics and messages. </a:t>
            </a:r>
            <a:endParaRPr b="0" lang="en-US" sz="1800" spc="-1" strike="noStrike">
              <a:latin typeface="Arial"/>
            </a:endParaRPr>
          </a:p>
          <a:p>
            <a:pPr marL="343080" indent="-343080">
              <a:lnSpc>
                <a:spcPct val="200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ROS services and actions. 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3908160" y="339120"/>
            <a:ext cx="180684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Explain</a:t>
            </a:r>
            <a:endParaRPr b="1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 txBox="1"/>
          <p:nvPr/>
        </p:nvSpPr>
        <p:spPr>
          <a:xfrm>
            <a:off x="4572000" y="83520"/>
            <a:ext cx="5029200" cy="65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200000"/>
              </a:lnSpc>
              <a:buClr>
                <a:srgbClr val="000000"/>
              </a:buClr>
              <a:buAutoNum type="arabicPeriod"/>
            </a:pPr>
            <a:r>
              <a:rPr b="1" lang="en-IN" sz="2000" spc="-1" strike="noStrike">
                <a:solidFill>
                  <a:srgbClr val="000000"/>
                </a:solidFill>
                <a:latin typeface="Arial"/>
                <a:ea typeface="DejaVu Sans"/>
              </a:rPr>
              <a:t>ROS nodes, topics and </a:t>
            </a:r>
            <a:r>
              <a:rPr b="1" lang="en-IN" sz="2000" spc="-1" strike="noStrike">
                <a:solidFill>
                  <a:srgbClr val="000000"/>
                </a:solidFill>
                <a:latin typeface="Arial"/>
                <a:ea typeface="DejaVu Sans"/>
              </a:rPr>
              <a:t>message </a:t>
            </a:r>
            <a:endParaRPr b="1" lang="en-US" sz="2000" spc="-1" strike="noStrike">
              <a:latin typeface="Arial"/>
            </a:endParaRPr>
          </a:p>
        </p:txBody>
      </p:sp>
      <p:pic>
        <p:nvPicPr>
          <p:cNvPr id="44" name="" descr=""/>
          <p:cNvPicPr/>
          <p:nvPr/>
        </p:nvPicPr>
        <p:blipFill>
          <a:blip r:embed="rId1"/>
          <a:srcRect l="31015" t="0" r="31480" b="0"/>
          <a:stretch/>
        </p:blipFill>
        <p:spPr>
          <a:xfrm>
            <a:off x="228960" y="162360"/>
            <a:ext cx="3657240" cy="5324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 txBox="1"/>
          <p:nvPr/>
        </p:nvSpPr>
        <p:spPr>
          <a:xfrm>
            <a:off x="914400" y="228600"/>
            <a:ext cx="41148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200000"/>
              </a:lnSpc>
              <a:buClr>
                <a:srgbClr val="000000"/>
              </a:buClr>
              <a:buAutoNum type="arabicPeriod"/>
            </a:pPr>
            <a:r>
              <a:rPr b="1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ROS services. </a:t>
            </a:r>
            <a:endParaRPr b="1" lang="en-US" sz="1800" spc="-1" strike="noStrike"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371600" y="1143000"/>
            <a:ext cx="4114800" cy="489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latin typeface="Arial"/>
              </a:rPr>
              <a:t>Service = Request + Response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457200" y="1828800"/>
            <a:ext cx="3657600" cy="222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200" spc="-1" strike="noStrike">
                <a:latin typeface="Arial"/>
              </a:rPr>
              <a:t>Easy real-life example</a:t>
            </a:r>
            <a:endParaRPr b="1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Think about a lift/elevator.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We press: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Floor 5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The elevator receives your request and </a:t>
            </a:r>
            <a:r>
              <a:rPr b="0" lang="en-US" sz="1200" spc="-1" strike="noStrike">
                <a:latin typeface="Arial"/>
              </a:rPr>
              <a:t>eventually responds by taking you there.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800600" y="477000"/>
            <a:ext cx="4600440" cy="4537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500" spc="-1" strike="noStrike">
                <a:latin typeface="Times New Roman"/>
              </a:rPr>
              <a:t>Topic</a:t>
            </a:r>
            <a:endParaRPr b="1" lang="en-US" sz="1500" spc="-1" strike="noStrike">
              <a:latin typeface="Times New Roman"/>
            </a:endParaRPr>
          </a:p>
          <a:p>
            <a:r>
              <a:rPr b="0" lang="en-US" sz="1300" spc="-1" strike="noStrike">
                <a:latin typeface="Times New Roman"/>
              </a:rPr>
              <a:t>Think of a lift continuously sending its current floor information:</a:t>
            </a:r>
            <a:endParaRPr b="0" lang="en-US" sz="1300" spc="-1" strike="noStrike">
              <a:latin typeface="Times New Roman"/>
            </a:endParaRPr>
          </a:p>
          <a:p>
            <a:r>
              <a:rPr b="0" lang="en-US" sz="1300" spc="-1" strike="noStrike">
                <a:latin typeface="Times New Roman"/>
              </a:rPr>
              <a:t>Lift ─────► "Floor 1" ─────► Display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r>
              <a:rPr b="0" lang="en-US" sz="1300" spc="-1" strike="noStrike">
                <a:latin typeface="Times New Roman"/>
              </a:rPr>
              <a:t>Lift ─────► "Floor 2" ─────► Display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r>
              <a:rPr b="0" lang="en-US" sz="1300" spc="-1" strike="noStrike">
                <a:latin typeface="Times New Roman"/>
              </a:rPr>
              <a:t>Lift ─────► "Floor 3" ─────► Display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r>
              <a:rPr b="0" lang="en-US" sz="1300" spc="-1" strike="noStrike">
                <a:latin typeface="Times New Roman"/>
              </a:rPr>
              <a:t>Lift ─────► "Floor 4" ─────► Display 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endParaRPr b="0" lang="en-US" sz="1300" spc="-1" strike="noStrike">
              <a:latin typeface="Times New Roman"/>
              <a:ea typeface="Courier New"/>
            </a:endParaRPr>
          </a:p>
          <a:p>
            <a:r>
              <a:rPr b="0" lang="en-US" sz="1300" spc="-1" strike="noStrike">
                <a:latin typeface="Times New Roman"/>
              </a:rPr>
              <a:t>Data keeps coming continuously.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r>
              <a:rPr b="0" lang="en-US" sz="1300" spc="-1" strike="noStrike">
                <a:latin typeface="Times New Roman"/>
              </a:rPr>
              <a:t>Topic = continuous communication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r>
              <a:rPr b="1" lang="en-US" sz="1500" spc="-1" strike="noStrike">
                <a:latin typeface="Times New Roman"/>
              </a:rPr>
              <a:t>Service</a:t>
            </a:r>
            <a:endParaRPr b="1" lang="en-US" sz="1500" spc="-1" strike="noStrike">
              <a:latin typeface="Times New Roman"/>
            </a:endParaRPr>
          </a:p>
          <a:p>
            <a:r>
              <a:rPr b="0" lang="en-US" sz="1300" spc="-1" strike="noStrike">
                <a:latin typeface="Times New Roman"/>
              </a:rPr>
              <a:t>Now think about pressing a lift button:</a:t>
            </a:r>
            <a:endParaRPr b="0" lang="en-US" sz="1300" spc="-1" strike="noStrike">
              <a:latin typeface="Times New Roman"/>
            </a:endParaRPr>
          </a:p>
          <a:p>
            <a:r>
              <a:rPr b="0" lang="en-US" sz="1300" spc="-1" strike="noStrike">
                <a:latin typeface="Times New Roman"/>
              </a:rPr>
              <a:t>Person ── "Go to Floor 5" ──► Lift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r>
              <a:rPr b="0" lang="en-US" sz="1300" spc="-1" strike="noStrike">
                <a:latin typeface="Times New Roman"/>
              </a:rPr>
              <a:t>Person ◄──── "Accepted" ───── Lift 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endParaRPr b="0" lang="en-US" sz="1300" spc="-1" strike="noStrike">
              <a:latin typeface="Times New Roman"/>
              <a:ea typeface="Courier New"/>
            </a:endParaRPr>
          </a:p>
          <a:p>
            <a:r>
              <a:rPr b="0" lang="en-US" sz="1300" spc="-1" strike="noStrike">
                <a:latin typeface="Times New Roman"/>
              </a:rPr>
              <a:t>The person makes a request, and the lift gives a response.</a:t>
            </a:r>
            <a:endParaRPr b="0" lang="en-US" sz="1300" spc="-1" strike="noStrike">
              <a:latin typeface="Times New Roman"/>
              <a:ea typeface="Courier New"/>
            </a:endParaRPr>
          </a:p>
          <a:p>
            <a:endParaRPr b="0" lang="en-US" sz="1300" spc="-1" strike="noStrike">
              <a:latin typeface="Times New Roman"/>
              <a:ea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6"/>
          <p:cNvSpPr/>
          <p:nvPr/>
        </p:nvSpPr>
        <p:spPr>
          <a:xfrm>
            <a:off x="434880" y="644040"/>
            <a:ext cx="921024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200000"/>
              </a:lnSpc>
              <a:buClr>
                <a:srgbClr val="000000"/>
              </a:buClr>
              <a:buFont typeface="Arial"/>
              <a:buAutoNum type="arabicPeriod"/>
            </a:pPr>
            <a:r>
              <a:rPr b="1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What is a ROS 2 topic? Explain how data is transmitted through a topic.</a:t>
            </a:r>
            <a:r>
              <a:rPr b="0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343080" indent="-343080">
              <a:lnSpc>
                <a:spcPct val="200000"/>
              </a:lnSpc>
              <a:buClr>
                <a:srgbClr val="000000"/>
              </a:buClr>
              <a:buFont typeface="Arial"/>
              <a:buAutoNum type="arabicPeriod"/>
            </a:pPr>
            <a:r>
              <a:rPr b="1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What are ROS 2 messages? Explain the purpose of standard message types such as Float32, Float32MultiArray.</a:t>
            </a:r>
            <a:r>
              <a:rPr b="0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endParaRPr b="0" lang="en-US" sz="1800" spc="-1" strike="noStrike">
              <a:latin typeface="Arial"/>
            </a:endParaRPr>
          </a:p>
          <a:p>
            <a:pPr marL="343080" indent="-343080">
              <a:lnSpc>
                <a:spcPct val="200000"/>
              </a:lnSpc>
              <a:buClr>
                <a:srgbClr val="000000"/>
              </a:buClr>
              <a:buFont typeface="Arial"/>
              <a:buAutoNum type="arabicPeriod"/>
            </a:pPr>
            <a:r>
              <a:rPr b="1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What are ROS 2 services? How are they different from topics?</a:t>
            </a:r>
            <a:r>
              <a:rPr b="0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343080" indent="-343080">
              <a:lnSpc>
                <a:spcPct val="200000"/>
              </a:lnSpc>
              <a:buClr>
                <a:srgbClr val="000000"/>
              </a:buClr>
              <a:buFont typeface="Arial"/>
              <a:buAutoNum type="arabicPeriod"/>
            </a:pPr>
            <a:r>
              <a:rPr b="1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What are ROS 2 actions? Explain where actions are useful in robotics applications.</a:t>
            </a:r>
            <a:endParaRPr b="0" lang="en-US" sz="1800" spc="-1" strike="noStrike">
              <a:latin typeface="Arial"/>
            </a:endParaRPr>
          </a:p>
          <a:p>
            <a:pPr marL="343080" indent="-343080">
              <a:lnSpc>
                <a:spcPct val="200000"/>
              </a:lnSpc>
              <a:buClr>
                <a:srgbClr val="000000"/>
              </a:buClr>
              <a:buFont typeface="Arial"/>
              <a:buAutoNum type="arabicPeriod"/>
            </a:pPr>
            <a:r>
              <a:rPr b="1" lang="en-IN" sz="1800" spc="-1" strike="noStrike">
                <a:solidFill>
                  <a:srgbClr val="000000"/>
                </a:solidFill>
                <a:latin typeface="Arial"/>
                <a:ea typeface="DejaVu Sans"/>
              </a:rPr>
              <a:t>Differentiate between Topics, Services, and Actions in ROS 2.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</TotalTime>
  <Application>LibreOffice/7.3.7.2$Linux_X86_64 LibreOffice_project/30$Build-2</Application>
  <AppVersion>15.0000</AppVersion>
  <Words>138</Words>
  <Paragraphs>10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2026-08-24T11:03:34Z</dcterms:created>
  <dc:creator/>
  <dc:description/>
  <dc:language>en-US</dc:language>
  <cp:lastModifiedBy/>
  <dcterms:modified xsi:type="dcterms:W3CDTF">2026-09-10T14:13:14Z</dcterms:modified>
  <cp:revision>51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2</vt:i4>
  </property>
</Properties>
</file>